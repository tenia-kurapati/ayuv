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13" r:id="rId3"/>
    <p:sldId id="314" r:id="rId4"/>
    <p:sldId id="306" r:id="rId5"/>
    <p:sldId id="319" r:id="rId6"/>
    <p:sldId id="321" r:id="rId7"/>
    <p:sldId id="323" r:id="rId8"/>
    <p:sldId id="317" r:id="rId9"/>
    <p:sldId id="364" r:id="rId10"/>
    <p:sldId id="325" r:id="rId11"/>
    <p:sldId id="363" r:id="rId12"/>
    <p:sldId id="330" r:id="rId13"/>
    <p:sldId id="358" r:id="rId14"/>
    <p:sldId id="365" r:id="rId15"/>
    <p:sldId id="354" r:id="rId16"/>
    <p:sldId id="361" r:id="rId17"/>
    <p:sldId id="362" r:id="rId18"/>
    <p:sldId id="366" r:id="rId19"/>
    <p:sldId id="353" r:id="rId20"/>
    <p:sldId id="367" r:id="rId21"/>
    <p:sldId id="355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1C4AC4-3A30-4155-8A3F-741718A4422C}">
          <p14:sldIdLst>
            <p14:sldId id="256"/>
            <p14:sldId id="313"/>
            <p14:sldId id="314"/>
            <p14:sldId id="306"/>
            <p14:sldId id="319"/>
            <p14:sldId id="321"/>
            <p14:sldId id="323"/>
            <p14:sldId id="317"/>
            <p14:sldId id="364"/>
            <p14:sldId id="325"/>
            <p14:sldId id="363"/>
            <p14:sldId id="330"/>
            <p14:sldId id="358"/>
            <p14:sldId id="365"/>
            <p14:sldId id="354"/>
            <p14:sldId id="361"/>
            <p14:sldId id="362"/>
            <p14:sldId id="366"/>
            <p14:sldId id="353"/>
            <p14:sldId id="367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F1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6247" autoAdjust="0"/>
  </p:normalViewPr>
  <p:slideViewPr>
    <p:cSldViewPr>
      <p:cViewPr varScale="1">
        <p:scale>
          <a:sx n="107" d="100"/>
          <a:sy n="107" d="100"/>
        </p:scale>
        <p:origin x="778" y="67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C621C-7812-4065-94D2-0E8437CF60C1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51795-AA87-465D-A617-E681BB4AC1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1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51795-AA87-465D-A617-E681BB4AC15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81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120D-A7BE-0CAF-46DA-F89E993C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162A0-03B5-23D2-6476-0E6F5A068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C31EA-DE68-35A7-9966-969EB9A08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28CF4-E028-0DF4-7C2F-912FCCDEB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51795-AA87-465D-A617-E681BB4AC15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6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0DAF7-55EF-4467-A207-F345DBF0A780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FA7E-0AC3-48E5-993C-6403EE473F36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4DF9-5906-443E-8FBF-4E0A61B0B119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1877-A574-4EDA-AF83-C400A8233A5B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BEC7-98AA-45F2-BC84-E7A4A017B381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C0FC-8963-42C2-913A-9C72E9BFD5AB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085C-AF56-4C00-A80F-C04D6A7591DE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A527C-E68A-4A9A-AFFB-03EFEDE1BF3B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BD81-B38F-406C-B99E-04BCBF302DAD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D00B-4701-45C8-AC22-6C90417D0D3A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D414-A562-4B8E-82DE-54387101456C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938C2-0D9A-41DA-A0F6-9A5D970295AA}" type="datetime3">
              <a:rPr lang="en-US" smtClean="0"/>
              <a:pPr/>
              <a:t>21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378533"/>
            <a:ext cx="7772400" cy="628650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Framework for Medicinal Leaf Classification Using Deep Learning and Recommendation Using TF-IDF and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4100" y="3063450"/>
            <a:ext cx="4800600" cy="1028700"/>
          </a:xfrm>
        </p:spPr>
        <p:txBody>
          <a:bodyPr>
            <a:normAutofit fontScale="47500" lnSpcReduction="20000"/>
          </a:bodyPr>
          <a:lstStyle/>
          <a:p>
            <a:r>
              <a:rPr lang="en-US" sz="4600" dirty="0">
                <a:solidFill>
                  <a:schemeClr val="tx1"/>
                </a:solidFill>
                <a:cs typeface="AngsanaUPC" panose="02020603050405020304" pitchFamily="18" charset="-34"/>
              </a:rPr>
              <a:t>Presented by</a:t>
            </a:r>
          </a:p>
          <a:p>
            <a:r>
              <a:rPr lang="en-US" sz="5000" b="1" dirty="0">
                <a:solidFill>
                  <a:srgbClr val="7030A0"/>
                </a:solidFill>
                <a:cs typeface="AngsanaUPC" panose="02020603050405020304" pitchFamily="18" charset="-34"/>
              </a:rPr>
              <a:t>  </a:t>
            </a:r>
            <a:r>
              <a:rPr lang="en-US" sz="3800" b="1" dirty="0">
                <a:solidFill>
                  <a:srgbClr val="7030A0"/>
                </a:solidFill>
                <a:cs typeface="AngsanaUPC" panose="02020603050405020304" pitchFamily="18" charset="-34"/>
              </a:rPr>
              <a:t>Ms. Tenia Kurapati (228W1A12G6)</a:t>
            </a:r>
          </a:p>
          <a:p>
            <a:r>
              <a:rPr lang="en-US" sz="3800" b="1" dirty="0">
                <a:solidFill>
                  <a:srgbClr val="7030A0"/>
                </a:solidFill>
                <a:cs typeface="AngsanaUPC" panose="02020603050405020304" pitchFamily="18" charset="-34"/>
              </a:rPr>
              <a:t>Mr. Mallikharjuna Rao </a:t>
            </a:r>
            <a:r>
              <a:rPr lang="en-US" sz="3800" b="1" dirty="0" err="1">
                <a:solidFill>
                  <a:srgbClr val="7030A0"/>
                </a:solidFill>
                <a:cs typeface="AngsanaUPC" panose="02020603050405020304" pitchFamily="18" charset="-34"/>
              </a:rPr>
              <a:t>Ayinala</a:t>
            </a:r>
            <a:r>
              <a:rPr lang="en-US" sz="3800" b="1" dirty="0">
                <a:solidFill>
                  <a:srgbClr val="7030A0"/>
                </a:solidFill>
                <a:cs typeface="AngsanaUPC" panose="02020603050405020304" pitchFamily="18" charset="-34"/>
              </a:rPr>
              <a:t> (228W1A12D3)</a:t>
            </a:r>
          </a:p>
          <a:p>
            <a:endParaRPr lang="en-US" sz="5000" b="1" dirty="0">
              <a:solidFill>
                <a:srgbClr val="7030A0"/>
              </a:solidFill>
              <a:cs typeface="AngsanaUPC" panose="02020603050405020304" pitchFamily="18" charset="-34"/>
            </a:endParaRPr>
          </a:p>
          <a:p>
            <a:endParaRPr lang="en-US" b="1" dirty="0">
              <a:solidFill>
                <a:srgbClr val="7030A0"/>
              </a:solidFill>
              <a:cs typeface="AngsanaUPC" panose="02020603050405020304" pitchFamily="18" charset="-34"/>
            </a:endParaRP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4" y="285750"/>
            <a:ext cx="1600199" cy="64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Image result for vrse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9502"/>
            <a:ext cx="1068572" cy="93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22721" y="200530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cs typeface="Times New Roman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cs typeface="Times New Roman" pitchFamily="18" charset="0"/>
              </a:rPr>
              <a:t>V R Siddhartha Engineering College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2343150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</a:rPr>
              <a:t>Major Project Review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62200" y="424815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cs typeface="AngsanaUPC" panose="02020603050405020304" pitchFamily="18" charset="-34"/>
              </a:rPr>
              <a:t>Under the guidance of </a:t>
            </a:r>
          </a:p>
          <a:p>
            <a:pPr algn="ctr"/>
            <a:r>
              <a:rPr lang="en-US" sz="2000" dirty="0">
                <a:cs typeface="AngsanaUPC" panose="02020603050405020304" pitchFamily="18" charset="-34"/>
              </a:rPr>
              <a:t> </a:t>
            </a:r>
            <a:r>
              <a:rPr lang="en-US" sz="2000" b="1" dirty="0">
                <a:solidFill>
                  <a:srgbClr val="FF0000"/>
                </a:solidFill>
                <a:cs typeface="AngsanaUPC" panose="02020603050405020304" pitchFamily="18" charset="-34"/>
              </a:rPr>
              <a:t>Dr. T. Anuradha, Professor</a:t>
            </a:r>
            <a:endParaRPr lang="en-US" b="1" dirty="0">
              <a:solidFill>
                <a:srgbClr val="FF0000"/>
              </a:solidFill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3908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00150"/>
            <a:ext cx="8229600" cy="339447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 &amp; Summary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 and Requirements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used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Diagram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steps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obtained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 analysis with charts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71E7A-1647-4385-A879-74B2DD900D2E}"/>
              </a:ext>
            </a:extLst>
          </p:cNvPr>
          <p:cNvSpPr txBox="1"/>
          <p:nvPr/>
        </p:nvSpPr>
        <p:spPr>
          <a:xfrm>
            <a:off x="609600" y="1276350"/>
            <a:ext cx="8077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medicinal knowledge is scattered and not easily accessible, making it difficult for users to utilize effectively.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medicinal plants manually is challenging due to similar leaf structures and lack of expertise.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typically search based on symptoms rather than plant names, creating a gap between identification and practical usage.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unified AI application where, I use Deep Learning (ResNet-50) plant identification(for learning about a unknown plant nature) and NLP (TF-IDF + Logistic Regression) for symptom-based recommendation.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E332-5E31-425F-A978-09F5421C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E49D4-343E-4613-9D07-EBC32D341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81150"/>
            <a:ext cx="8229600" cy="213360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Medicinal plant identification is difficult for non-experts due to similar leaf features, leading to possible misclassification.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identification may result in ineffective treatment or potential health risks.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Medicinal information is unstructured, scattered, and not easily accessible to common users.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provide a unified solution combining image-based identification with symptom-based recommendation and structured outputs (usage, dosage, precautions).</a:t>
            </a:r>
          </a:p>
        </p:txBody>
      </p:sp>
    </p:spTree>
    <p:extLst>
      <p:ext uri="{BB962C8B-B14F-4D97-AF65-F5344CB8AC3E}">
        <p14:creationId xmlns:p14="http://schemas.microsoft.com/office/powerpoint/2010/main" val="22566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0D74785-8725-105A-A6A2-7B28E59765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0" y="1675008"/>
            <a:ext cx="40767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 highly accurate system for both leaf classification and disease-based recommendation.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unified AI platform supporting image input and symptom-based queries.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user-friendly mobile application providing usage, dosage, and precautions.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7BD018-E174-AF71-17C8-7B7F6019E758}"/>
              </a:ext>
            </a:extLst>
          </p:cNvPr>
          <p:cNvSpPr txBox="1">
            <a:spLocks/>
          </p:cNvSpPr>
          <p:nvPr/>
        </p:nvSpPr>
        <p:spPr>
          <a:xfrm>
            <a:off x="4876800" y="742950"/>
            <a:ext cx="3848100" cy="838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B13EAF-592B-10BA-FA56-EE979A451586}"/>
              </a:ext>
            </a:extLst>
          </p:cNvPr>
          <p:cNvSpPr txBox="1">
            <a:spLocks/>
          </p:cNvSpPr>
          <p:nvPr/>
        </p:nvSpPr>
        <p:spPr>
          <a:xfrm>
            <a:off x="190501" y="742950"/>
            <a:ext cx="4076700" cy="838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E162A54-2C65-2F6A-CF2C-31554110E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75009"/>
            <a:ext cx="4191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 model (ResNet-50) for accurate medicinal leaf classification.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NLP-based recommendation system (TF-IDF + Logistic Regression) for symptom-based leaf prediction.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both models into a unified, real-time mobile application with backend deployment.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E7BDD4-8668-ED2D-E525-155171ABDD39}"/>
              </a:ext>
            </a:extLst>
          </p:cNvPr>
          <p:cNvCxnSpPr>
            <a:cxnSpLocks/>
          </p:cNvCxnSpPr>
          <p:nvPr/>
        </p:nvCxnSpPr>
        <p:spPr>
          <a:xfrm>
            <a:off x="4800600" y="1504950"/>
            <a:ext cx="0" cy="3505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73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F197-4EB4-51F7-7347-A8BC7046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5250"/>
            <a:ext cx="8229600" cy="85725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204554-D7A0-D853-E05D-89EA06A20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093292"/>
              </p:ext>
            </p:extLst>
          </p:nvPr>
        </p:nvGraphicFramePr>
        <p:xfrm>
          <a:off x="0" y="590550"/>
          <a:ext cx="9112410" cy="4581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932">
                  <a:extLst>
                    <a:ext uri="{9D8B030D-6E8A-4147-A177-3AD203B41FA5}">
                      <a16:colId xmlns:a16="http://schemas.microsoft.com/office/drawing/2014/main" val="1476037466"/>
                    </a:ext>
                  </a:extLst>
                </a:gridCol>
                <a:gridCol w="715268">
                  <a:extLst>
                    <a:ext uri="{9D8B030D-6E8A-4147-A177-3AD203B41FA5}">
                      <a16:colId xmlns:a16="http://schemas.microsoft.com/office/drawing/2014/main" val="41916066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515491"/>
                    </a:ext>
                  </a:extLst>
                </a:gridCol>
                <a:gridCol w="1309539">
                  <a:extLst>
                    <a:ext uri="{9D8B030D-6E8A-4147-A177-3AD203B41FA5}">
                      <a16:colId xmlns:a16="http://schemas.microsoft.com/office/drawing/2014/main" val="1137400864"/>
                    </a:ext>
                  </a:extLst>
                </a:gridCol>
                <a:gridCol w="1356357">
                  <a:extLst>
                    <a:ext uri="{9D8B030D-6E8A-4147-A177-3AD203B41FA5}">
                      <a16:colId xmlns:a16="http://schemas.microsoft.com/office/drawing/2014/main" val="2089598832"/>
                    </a:ext>
                  </a:extLst>
                </a:gridCol>
                <a:gridCol w="1296504">
                  <a:extLst>
                    <a:ext uri="{9D8B030D-6E8A-4147-A177-3AD203B41FA5}">
                      <a16:colId xmlns:a16="http://schemas.microsoft.com/office/drawing/2014/main" val="2080219831"/>
                    </a:ext>
                  </a:extLst>
                </a:gridCol>
                <a:gridCol w="1416210">
                  <a:extLst>
                    <a:ext uri="{9D8B030D-6E8A-4147-A177-3AD203B41FA5}">
                      <a16:colId xmlns:a16="http://schemas.microsoft.com/office/drawing/2014/main" val="2887099255"/>
                    </a:ext>
                  </a:extLst>
                </a:gridCol>
              </a:tblGrid>
              <a:tr h="459604"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31532"/>
                  </a:ext>
                </a:extLst>
              </a:tr>
              <a:tr h="1953316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Residual Learning for Image Recognition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  <a:p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residual learning framework to train very deep neural networks effectively and solve degradation problem.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(Residual CNN Architecture)</a:t>
                      </a: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ImageNet Dataset (ILSVRC)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and requires large training data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 networks significantly improve accuracy and enable deeper architectures for image classification tasks.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374728"/>
                  </a:ext>
                </a:extLst>
              </a:tr>
              <a:tr h="214003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of TF-IDF and Word2Vec in Sentiment Analysis: A Case of Food Reviews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TF-IDF and Word2Vec text representation methods for sentiment analysis on large-scale food review data using logistic regression.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TF-IDF, Word2Vec (feature extraction) and Logistic Regression (classification model). 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food reviews dataset with ~560,000 reviews containing ratings and text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suffers from overfitting and lacks semantic understanding; Word2Vec requires large data and computational resources.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achieves high training accuracy but overfits, while Word2Vec provides better generalization and is more suitable for large datasets. </a:t>
                      </a:r>
                    </a:p>
                    <a:p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444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1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7F449E-C31B-6B72-FEB0-9AB957BF6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736852"/>
              </p:ext>
            </p:extLst>
          </p:nvPr>
        </p:nvGraphicFramePr>
        <p:xfrm>
          <a:off x="0" y="819150"/>
          <a:ext cx="9144002" cy="4324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69002415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963784938"/>
                    </a:ext>
                  </a:extLst>
                </a:gridCol>
                <a:gridCol w="1785258">
                  <a:extLst>
                    <a:ext uri="{9D8B030D-6E8A-4147-A177-3AD203B41FA5}">
                      <a16:colId xmlns:a16="http://schemas.microsoft.com/office/drawing/2014/main" val="1564700488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768527212"/>
                    </a:ext>
                  </a:extLst>
                </a:gridCol>
                <a:gridCol w="1159736">
                  <a:extLst>
                    <a:ext uri="{9D8B030D-6E8A-4147-A177-3AD203B41FA5}">
                      <a16:colId xmlns:a16="http://schemas.microsoft.com/office/drawing/2014/main" val="221271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072824386"/>
                    </a:ext>
                  </a:extLst>
                </a:gridCol>
                <a:gridCol w="1387522">
                  <a:extLst>
                    <a:ext uri="{9D8B030D-6E8A-4147-A177-3AD203B41FA5}">
                      <a16:colId xmlns:a16="http://schemas.microsoft.com/office/drawing/2014/main" val="2429964845"/>
                    </a:ext>
                  </a:extLst>
                </a:gridCol>
              </a:tblGrid>
              <a:tr h="2012348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Enabling Deep Convolutional Neural Networks through Residual Learning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performance and demonstrated improved training stability and accuracy using residual connections.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(Residual Learning with Skip Connections)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CIFAR-10 Dataset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requires optimization techniques and high resources for large-scale tasks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enables efficient training of deep networks and achieves higher accuracy compared to traditional CNNs.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163279"/>
                  </a:ext>
                </a:extLst>
              </a:tr>
              <a:tr h="231200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Classification of Pathology Reports using TF-IDF Features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  <a:p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for extracting features from medical reports and classifying them using ML models.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+ SVM,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Logistic Regression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Pathology Reports Dataset (NCI dataset, 1,949 reports)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preprocessing and lacks contextual understanding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effectively highlights important keywords and supports accurate medical text classification.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3132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A7FB36A-E833-447B-8658-B5A967DE5A60}"/>
              </a:ext>
            </a:extLst>
          </p:cNvPr>
          <p:cNvSpPr txBox="1"/>
          <p:nvPr/>
        </p:nvSpPr>
        <p:spPr>
          <a:xfrm>
            <a:off x="3124200" y="20955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6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5FBC-1A18-173F-ACCC-2EB82CF7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65" y="115728"/>
            <a:ext cx="8229600" cy="838202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Dataset &amp; Requirements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959A63-1ACF-CB46-802B-223DE6DFF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8065" y="1200150"/>
            <a:ext cx="8527869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Indian Medicinal Leaf Image Dataset (image folders by species).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Text/CSV dataset containing identified image and medicinal properties mapping.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3: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Disease – Leaf Dataset (CSV Format)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-  Fields : Disease, Symptoms, Leaf name , Usage, Dosage, Precautions.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-  30 – 50 diseases mapped to corresponding medicinal leaves                            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Python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sc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ikit – learn,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CPU -TF IDF,GPU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ResNet50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API 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: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 React Native</a:t>
            </a:r>
            <a:b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1600" dirty="0">
                <a:latin typeface="Arial" panose="020B0604020202020204" pitchFamily="34" charset="0"/>
              </a:rPr>
            </a:br>
            <a:br>
              <a:rPr lang="en-US" altLang="en-US" sz="1600" dirty="0"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73712-FF0C-76A1-D83B-0915B5D2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917EA-1CAB-5138-E008-A62FCD677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543049"/>
                <a:ext cx="3886200" cy="33944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Take the Input Feature Map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Let the input to a residual block be: X</a:t>
                </a:r>
              </a:p>
              <a:p>
                <a:pPr marL="0" indent="0">
                  <a:buNone/>
                </a:pPr>
                <a:b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 : Compute the Residual Mapping F(X) </a:t>
                </a:r>
              </a:p>
              <a:p>
                <a:pPr marL="0" indent="0">
                  <a:buNone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ResNet-50 uses a 3-layer bottleneck structure: </a:t>
                </a:r>
              </a:p>
              <a:p>
                <a:pPr lvl="1"/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 Convolution (reduce channels):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4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ReLU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BN</m:t>
                        </m:r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ar-AE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4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ReLU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BN</m:t>
                        </m:r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ar-AE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(expand channels):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sz="1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4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BN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ar-AE" sz="1400" b="0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residual transformation.</a:t>
                </a:r>
              </a:p>
              <a:p>
                <a:pPr marL="0" indent="0">
                  <a:buNone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917EA-1CAB-5138-E008-A62FCD677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543049"/>
                <a:ext cx="3886200" cy="3394472"/>
              </a:xfrm>
              <a:blipFill>
                <a:blip r:embed="rId2"/>
                <a:stretch>
                  <a:fillRect l="-471" t="-3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12D411-8D97-D8DA-9DAA-9CC3BE038EA3}"/>
                  </a:ext>
                </a:extLst>
              </p:cNvPr>
              <p:cNvSpPr txBox="1"/>
              <p:nvPr/>
            </p:nvSpPr>
            <p:spPr>
              <a:xfrm>
                <a:off x="5029200" y="1436426"/>
                <a:ext cx="4038602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 : Create the Shortcut (Skip Connection)</a:t>
                </a:r>
              </a:p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cases:</a:t>
                </a:r>
              </a:p>
              <a:p>
                <a:pPr/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Identity Shortcut (no shape change):</a:t>
                </a:r>
                <a:b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400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Projection Shortcut (shape change):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400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BN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ar-AE" sz="1400" b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ar-AE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when channel size changes or </a:t>
                </a:r>
                <a:r>
                  <a:rPr lang="en-I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downsampling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occurs.</a:t>
                </a:r>
              </a:p>
              <a:p>
                <a:endParaRPr lang="en-I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Add Residual + Shortcut</a:t>
                </a:r>
              </a:p>
              <a:p>
                <a:pPr/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idea of </a:t>
                </a:r>
                <a:r>
                  <a:rPr lang="en-I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ResNet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Final Activation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ReLU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12D411-8D97-D8DA-9DAA-9CC3BE038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436426"/>
                <a:ext cx="4038602" cy="3754874"/>
              </a:xfrm>
              <a:prstGeom prst="rect">
                <a:avLst/>
              </a:prstGeom>
              <a:blipFill>
                <a:blip r:embed="rId3"/>
                <a:stretch>
                  <a:fillRect l="-452" t="-3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A47773-C838-5FFC-921E-FA2D71D7D598}"/>
              </a:ext>
            </a:extLst>
          </p:cNvPr>
          <p:cNvCxnSpPr>
            <a:cxnSpLocks/>
          </p:cNvCxnSpPr>
          <p:nvPr/>
        </p:nvCxnSpPr>
        <p:spPr>
          <a:xfrm>
            <a:off x="4648200" y="1428750"/>
            <a:ext cx="0" cy="3352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D0D610-D675-2CFF-7714-F52AF7BF9346}"/>
              </a:ext>
            </a:extLst>
          </p:cNvPr>
          <p:cNvSpPr txBox="1"/>
          <p:nvPr/>
        </p:nvSpPr>
        <p:spPr>
          <a:xfrm>
            <a:off x="533400" y="87624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(Residual Network - 50 Layers)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37565-72D7-F69E-1C63-F9965E574553}"/>
              </a:ext>
            </a:extLst>
          </p:cNvPr>
          <p:cNvSpPr txBox="1"/>
          <p:nvPr/>
        </p:nvSpPr>
        <p:spPr>
          <a:xfrm>
            <a:off x="1219200" y="61511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</a:t>
            </a:r>
          </a:p>
        </p:txBody>
      </p:sp>
    </p:spTree>
    <p:extLst>
      <p:ext uri="{BB962C8B-B14F-4D97-AF65-F5344CB8AC3E}">
        <p14:creationId xmlns:p14="http://schemas.microsoft.com/office/powerpoint/2010/main" val="23340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D0F6-F964-2570-BCC0-475E4E1C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– IDF (Term Frequency – Inverse Document Frequency)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2D73-4D3C-26C0-638E-47DA07EB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3049"/>
            <a:ext cx="8229600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Input Text Document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input document be:   D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 Compute Term Frequency (TF)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For term 𝑡 in document 𝐷: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FD3B4E-23B0-49D6-BC78-4FFE8967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03" y="2673684"/>
            <a:ext cx="3200400" cy="6473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C3B7B2-5578-4810-9F62-72D26E0A94A3}"/>
              </a:ext>
            </a:extLst>
          </p:cNvPr>
          <p:cNvSpPr txBox="1"/>
          <p:nvPr/>
        </p:nvSpPr>
        <p:spPr>
          <a:xfrm>
            <a:off x="533400" y="3321037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Inverse Document Frequency (IDF)</a:t>
            </a:r>
          </a:p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D4E80A-CAA0-452E-ACFA-5845612C9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689998"/>
            <a:ext cx="1676400" cy="556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87BF4C-54F8-5D1F-1D11-45358C0CEB2A}"/>
              </a:ext>
            </a:extLst>
          </p:cNvPr>
          <p:cNvSpPr txBox="1"/>
          <p:nvPr/>
        </p:nvSpPr>
        <p:spPr>
          <a:xfrm>
            <a:off x="5029200" y="1543049"/>
            <a:ext cx="40386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Total number of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df(t)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Number of documents containing term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Compute TF-IDF Score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16B290-A045-5C01-2845-CBE0C96B0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946" y="2759510"/>
            <a:ext cx="3130254" cy="3810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54AC6-7494-7AB8-1C05-D30C7A5FBE07}"/>
              </a:ext>
            </a:extLst>
          </p:cNvPr>
          <p:cNvSpPr txBox="1"/>
          <p:nvPr/>
        </p:nvSpPr>
        <p:spPr>
          <a:xfrm>
            <a:off x="5029200" y="318795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converts text into numerical feature vector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FF4161-42EA-1E27-8895-5B314ED8A1DE}"/>
              </a:ext>
            </a:extLst>
          </p:cNvPr>
          <p:cNvCxnSpPr>
            <a:stCxn id="3" idx="0"/>
          </p:cNvCxnSpPr>
          <p:nvPr/>
        </p:nvCxnSpPr>
        <p:spPr>
          <a:xfrm>
            <a:off x="4648200" y="1543049"/>
            <a:ext cx="0" cy="30861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1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6BB8-7789-35E2-FE70-5C50A111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9B0A-0583-1C2E-95C2-AB027E1B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3049"/>
            <a:ext cx="8229600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Take Feature Vector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Let TF-IDF vector be:  X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Compute Linear Combination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87E52-728D-67B1-C13D-55D1CF594572}"/>
              </a:ext>
            </a:extLst>
          </p:cNvPr>
          <p:cNvSpPr txBox="1"/>
          <p:nvPr/>
        </p:nvSpPr>
        <p:spPr>
          <a:xfrm>
            <a:off x="5029200" y="1543049"/>
            <a:ext cx="4038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computes probability for each leaf class.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Final Prediction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801CA7-7A68-B07A-79C8-49EACE4F4284}"/>
              </a:ext>
            </a:extLst>
          </p:cNvPr>
          <p:cNvCxnSpPr>
            <a:stCxn id="3" idx="0"/>
          </p:cNvCxnSpPr>
          <p:nvPr/>
        </p:nvCxnSpPr>
        <p:spPr>
          <a:xfrm>
            <a:off x="4648200" y="1543049"/>
            <a:ext cx="0" cy="30861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F34804B-4871-8657-D7FF-409DC014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43268"/>
            <a:ext cx="1371600" cy="3949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0B1173-7B90-AE05-4EA6-F4F775F0CA3B}"/>
              </a:ext>
            </a:extLst>
          </p:cNvPr>
          <p:cNvSpPr txBox="1"/>
          <p:nvPr/>
        </p:nvSpPr>
        <p:spPr>
          <a:xfrm>
            <a:off x="533400" y="2759510"/>
            <a:ext cx="4800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W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Weight vector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bias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Apply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(Multi – class)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154FEA-AD43-85EF-90FF-EE799D846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25608"/>
            <a:ext cx="2057398" cy="6377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9CF1B8-089E-AB33-ABD4-5B8D5E14BB0A}"/>
              </a:ext>
            </a:extLst>
          </p:cNvPr>
          <p:cNvSpPr txBox="1"/>
          <p:nvPr/>
        </p:nvSpPr>
        <p:spPr>
          <a:xfrm>
            <a:off x="533400" y="694223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(Multi – Class Classification)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D6BB67-3F82-B8F1-B36C-C7ABDDADB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293290"/>
            <a:ext cx="2027051" cy="3192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88670D6-82F1-135A-B5AF-A27898E285F6}"/>
              </a:ext>
            </a:extLst>
          </p:cNvPr>
          <p:cNvSpPr txBox="1"/>
          <p:nvPr/>
        </p:nvSpPr>
        <p:spPr>
          <a:xfrm>
            <a:off x="5059907" y="26707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class with highest probability.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1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0121-5EC1-6FF9-6EDD-54396E48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7150"/>
            <a:ext cx="8229600" cy="857250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E3467-B8D5-45C2-9505-54425E543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37" y="895350"/>
            <a:ext cx="8283756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4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7B6FF-3DE1-4546-93DF-B0EEC04CFB1C}"/>
              </a:ext>
            </a:extLst>
          </p:cNvPr>
          <p:cNvSpPr txBox="1"/>
          <p:nvPr/>
        </p:nvSpPr>
        <p:spPr>
          <a:xfrm>
            <a:off x="304800" y="2559"/>
            <a:ext cx="563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</a:t>
            </a:r>
            <a:b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61220-7FA4-4EB3-9C58-EB26F1C20327}"/>
              </a:ext>
            </a:extLst>
          </p:cNvPr>
          <p:cNvSpPr txBox="1"/>
          <p:nvPr/>
        </p:nvSpPr>
        <p:spPr>
          <a:xfrm>
            <a:off x="0" y="657314"/>
            <a:ext cx="4953000" cy="4516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Indian Medicinal Leaf Image Dataset (80 species)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Custom Disease–Leaf Dataset (CSV) with: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Disease, Symptoms, Leaf Name, Usage, Dosage, Precautions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to 224 × 224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(ImageNet standards)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(flip, rotation)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 </a:t>
            </a:r>
          </a:p>
          <a:p>
            <a:pPr lvl="2"/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removal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Development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Model: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ResNet-50 (Transfer Learning)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final layers for 80 classes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Recommendation Model: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TF-IDF vectorization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Logistic Regression classifier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4009A-7B73-F9EA-7729-A97A7F6958E8}"/>
              </a:ext>
            </a:extLst>
          </p:cNvPr>
          <p:cNvSpPr txBox="1"/>
          <p:nvPr/>
        </p:nvSpPr>
        <p:spPr>
          <a:xfrm>
            <a:off x="4940490" y="272593"/>
            <a:ext cx="4953000" cy="490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models using: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 Loss (</a:t>
            </a:r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 (Logistic Regression)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accuracy and loss metrics </a:t>
            </a:r>
          </a:p>
          <a:p>
            <a:endParaRPr lang="en-IN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Backend Development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APIs using </a:t>
            </a:r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endpoints: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/predict-image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/predict-text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 structured JSON output </a:t>
            </a:r>
          </a:p>
          <a:p>
            <a:endParaRPr lang="en-IN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Deployment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backend on Hugging Face Spaces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trained models: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(TF-IDF + Logistic Regression) </a:t>
            </a:r>
          </a:p>
          <a:p>
            <a:pPr lvl="1"/>
            <a:endParaRPr lang="en-IN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Mobile Application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React Native (Expo) </a:t>
            </a:r>
          </a:p>
          <a:p>
            <a:pPr lvl="1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input (chat-like) </a:t>
            </a:r>
          </a:p>
          <a:p>
            <a:pPr lvl="2"/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results display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079A42-CCC5-2F54-39B4-497D8465EDAA}"/>
              </a:ext>
            </a:extLst>
          </p:cNvPr>
          <p:cNvCxnSpPr/>
          <p:nvPr/>
        </p:nvCxnSpPr>
        <p:spPr>
          <a:xfrm>
            <a:off x="4572000" y="133350"/>
            <a:ext cx="0" cy="4876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52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8B3B-4D7E-7BC5-7BED-3BE264D1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D075CC-BB06-1189-8CFD-E990E2367111}"/>
              </a:ext>
            </a:extLst>
          </p:cNvPr>
          <p:cNvSpPr txBox="1"/>
          <p:nvPr/>
        </p:nvSpPr>
        <p:spPr>
          <a:xfrm>
            <a:off x="3352800" y="133350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Flow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74C76-3560-CB4B-EFDA-9BC5526E88E3}"/>
              </a:ext>
            </a:extLst>
          </p:cNvPr>
          <p:cNvSpPr txBox="1"/>
          <p:nvPr/>
        </p:nvSpPr>
        <p:spPr>
          <a:xfrm>
            <a:off x="381000" y="1200150"/>
            <a:ext cx="3886200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User Input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provides: </a:t>
            </a:r>
          </a:p>
          <a:p>
            <a:pPr lvl="2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 OR </a:t>
            </a:r>
          </a:p>
          <a:p>
            <a:pPr lvl="2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Symptoms/disease text 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Input Processing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→ Cleaned → TF-IDF vectorized 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Model Prediction</a:t>
            </a:r>
          </a:p>
          <a:p>
            <a:pPr lvl="1"/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Predicts leaf class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 → Predicts top 3 recommended leaves 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BD29B-6424-9BC0-B269-7FF222841E65}"/>
              </a:ext>
            </a:extLst>
          </p:cNvPr>
          <p:cNvSpPr txBox="1"/>
          <p:nvPr/>
        </p:nvSpPr>
        <p:spPr>
          <a:xfrm>
            <a:off x="5029200" y="1067516"/>
            <a:ext cx="3429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Information Retrieval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from dataset: </a:t>
            </a:r>
          </a:p>
          <a:p>
            <a:pPr lvl="2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</a:t>
            </a:r>
          </a:p>
          <a:p>
            <a:pPr lvl="2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Dosage </a:t>
            </a:r>
          </a:p>
          <a:p>
            <a:pPr lvl="2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Precautions 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Response Generation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sent via API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in mobile app </a:t>
            </a: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Stateless Interaction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previous data stored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query handled independently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B6F077-E159-35C8-F631-B4D754AAE42E}"/>
              </a:ext>
            </a:extLst>
          </p:cNvPr>
          <p:cNvCxnSpPr>
            <a:cxnSpLocks/>
          </p:cNvCxnSpPr>
          <p:nvPr/>
        </p:nvCxnSpPr>
        <p:spPr>
          <a:xfrm>
            <a:off x="4572000" y="971550"/>
            <a:ext cx="0" cy="4038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16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445057-10DC-7A45-7B75-6945A304AE11}"/>
              </a:ext>
            </a:extLst>
          </p:cNvPr>
          <p:cNvSpPr txBox="1"/>
          <p:nvPr/>
        </p:nvSpPr>
        <p:spPr>
          <a:xfrm>
            <a:off x="546100" y="514350"/>
            <a:ext cx="692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from Leaf Classifier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16022-1CE9-BA7D-82E6-F7AD200DA0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1203960"/>
            <a:ext cx="1577340" cy="333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58B605-7FA8-964E-66C1-FB628FBF09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1207770"/>
            <a:ext cx="1577340" cy="3333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44F860-5027-4641-251F-F7A9256141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00150"/>
            <a:ext cx="1577340" cy="3252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A260A3-E6C4-99A1-9C6D-ADBC943393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203960"/>
            <a:ext cx="1536147" cy="32202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605E2E-6D21-262D-1DD7-A32A2ED245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627" y="1194768"/>
            <a:ext cx="1516059" cy="32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2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B22FFC-36D5-4263-BEDB-E54596FF52BD}"/>
              </a:ext>
            </a:extLst>
          </p:cNvPr>
          <p:cNvSpPr txBox="1"/>
          <p:nvPr/>
        </p:nvSpPr>
        <p:spPr>
          <a:xfrm>
            <a:off x="609600" y="36195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From Symptom Asst: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353848-0E24-4FB4-A1EA-42B00828C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9753"/>
            <a:ext cx="1828800" cy="3800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E291D5-1A9F-4D91-8CBE-EC115FC7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973782"/>
            <a:ext cx="1905000" cy="3800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92AABC-0C7C-411D-9E9B-353279F56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73782"/>
            <a:ext cx="1831075" cy="3800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91D288-9DC0-4061-B0E9-89B9B3744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73782"/>
            <a:ext cx="1905001" cy="388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62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55337-7B19-449E-A697-B16076797952}"/>
              </a:ext>
            </a:extLst>
          </p:cNvPr>
          <p:cNvSpPr txBox="1"/>
          <p:nvPr/>
        </p:nvSpPr>
        <p:spPr>
          <a:xfrm>
            <a:off x="381000" y="590550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A047C-4F55-E324-A640-ADFE9517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98" y="1352550"/>
            <a:ext cx="3734502" cy="2990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E7AFCD-E8AF-933C-3FFD-AB0284D8DD4B}"/>
              </a:ext>
            </a:extLst>
          </p:cNvPr>
          <p:cNvSpPr txBox="1"/>
          <p:nvPr/>
        </p:nvSpPr>
        <p:spPr>
          <a:xfrm>
            <a:off x="685800" y="432435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7EBB91-DD10-E46D-19A9-18397A83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600" y="1138292"/>
            <a:ext cx="4114800" cy="3214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22F3B5-414A-8C1F-F160-6785C008E231}"/>
              </a:ext>
            </a:extLst>
          </p:cNvPr>
          <p:cNvSpPr txBox="1"/>
          <p:nvPr/>
        </p:nvSpPr>
        <p:spPr>
          <a:xfrm>
            <a:off x="5562600" y="432435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046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7E56-1C65-A8AF-CA20-4E2EB95D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6AFFB-4C0A-3A9F-0669-A197C1923B93}"/>
              </a:ext>
            </a:extLst>
          </p:cNvPr>
          <p:cNvSpPr txBox="1"/>
          <p:nvPr/>
        </p:nvSpPr>
        <p:spPr>
          <a:xfrm>
            <a:off x="381000" y="590550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3DA29-3D3E-19BA-7AB6-921B60610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046" y="1663474"/>
            <a:ext cx="4867954" cy="2051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BB4BF-CFB1-3DEA-BF11-8CD6173FB5E3}"/>
              </a:ext>
            </a:extLst>
          </p:cNvPr>
          <p:cNvSpPr txBox="1"/>
          <p:nvPr/>
        </p:nvSpPr>
        <p:spPr>
          <a:xfrm>
            <a:off x="5257800" y="371475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Metrics of TF-IDF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30DB4-F7BF-4110-575D-644A5261A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19" y="1134320"/>
            <a:ext cx="3495550" cy="32662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807DC3-1D86-EFDB-CE1D-707EC4F08183}"/>
              </a:ext>
            </a:extLst>
          </p:cNvPr>
          <p:cNvSpPr txBox="1"/>
          <p:nvPr/>
        </p:nvSpPr>
        <p:spPr>
          <a:xfrm>
            <a:off x="533400" y="448841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of ResNet50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6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D1FE1D-423E-4183-CA52-A2E7089C70B6}"/>
              </a:ext>
            </a:extLst>
          </p:cNvPr>
          <p:cNvSpPr txBox="1"/>
          <p:nvPr/>
        </p:nvSpPr>
        <p:spPr>
          <a:xfrm>
            <a:off x="304800" y="1200150"/>
            <a:ext cx="8534400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unified AI system integrating Deep Learning (ResNet-50) and NLP (TF-IDF + Logistic Regression).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leaf classification and symptom-based recommendation with structured outputs.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as a real-time mobile application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traditional medicinal knowledge and modern AI technology.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using advanced NLP models (BERT, Word2Vec) for improved understanding.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to expand dataset and add multilingual/voice support for better accessibility and real-world usage.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A8B57-AC25-AB3D-723E-472CC555617B}"/>
              </a:ext>
            </a:extLst>
          </p:cNvPr>
          <p:cNvSpPr txBox="1"/>
          <p:nvPr/>
        </p:nvSpPr>
        <p:spPr>
          <a:xfrm>
            <a:off x="1447800" y="341477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 </a:t>
            </a:r>
            <a:endParaRPr lang="en-IN"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30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0E7-DABB-C09D-A816-541B061B8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DD095-0C72-8C5C-C003-000DEF02DD22}"/>
              </a:ext>
            </a:extLst>
          </p:cNvPr>
          <p:cNvSpPr txBox="1"/>
          <p:nvPr/>
        </p:nvSpPr>
        <p:spPr>
          <a:xfrm>
            <a:off x="609600" y="1200150"/>
            <a:ext cx="8001000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K. He, X. Zhang, S. Ren, and J. Sun, “Deep Residual Learning for Image Recognition,” Proc. IEEE CVPR, 2024.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J.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Wäldchen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Mäder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“Plant Species Identification Using Computer Vision Techniques: A Systematic Literature Review,” ACM Computing Surveys, 2025.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K.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Kowsari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“A Comparative Study on TF-IDF Feature Weighting Method and its Analysis using Unstructured Dataset,” Proc. COLINS, 2025.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Z. Zhan et al., “Comparative Analysis of TF-IDF and Word2Vec in Sentiment Analysis: A Case of Food Reviews,” ITM Web of Conferences, 2024.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Z. Liang et al., “Robust Sentiment and Semantic Analysis of Small and Medium-Sized News Headline Datasets,” IEEE Access, 2026.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B70BD-3738-D1FA-B6E9-8892863FE971}"/>
              </a:ext>
            </a:extLst>
          </p:cNvPr>
          <p:cNvSpPr txBox="1"/>
          <p:nvPr/>
        </p:nvSpPr>
        <p:spPr>
          <a:xfrm>
            <a:off x="1447800" y="341477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70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B0855-2CA1-1E7E-BF51-F8A20C3AC78C}"/>
              </a:ext>
            </a:extLst>
          </p:cNvPr>
          <p:cNvSpPr txBox="1"/>
          <p:nvPr/>
        </p:nvSpPr>
        <p:spPr>
          <a:xfrm>
            <a:off x="2590800" y="1962150"/>
            <a:ext cx="472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18942</TotalTime>
  <Words>1677</Words>
  <Application>Microsoft Office PowerPoint</Application>
  <PresentationFormat>On-screen Show (16:9)</PresentationFormat>
  <Paragraphs>243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Office Theme</vt:lpstr>
      <vt:lpstr>A Unified Framework for Medicinal Leaf Classification Using Deep Learning and Recommendation Using TF-IDF and Logistic Regression</vt:lpstr>
      <vt:lpstr>Agenda</vt:lpstr>
      <vt:lpstr>Introduction </vt:lpstr>
      <vt:lpstr>Problem Statement</vt:lpstr>
      <vt:lpstr>PowerPoint Presentation</vt:lpstr>
      <vt:lpstr>Literature Survey</vt:lpstr>
      <vt:lpstr>PowerPoint Presentation</vt:lpstr>
      <vt:lpstr>Dataset &amp; Requirements</vt:lpstr>
      <vt:lpstr>PowerPoint Presentation</vt:lpstr>
      <vt:lpstr>TF – IDF (Term Frequency – Inverse Document Frequency)</vt:lpstr>
      <vt:lpstr>PowerPoint Presentation</vt:lpstr>
      <vt:lpstr>Architecture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sql</dc:creator>
  <cp:lastModifiedBy>Tenia Kurapati</cp:lastModifiedBy>
  <cp:revision>467</cp:revision>
  <dcterms:created xsi:type="dcterms:W3CDTF">2006-08-16T00:00:00Z</dcterms:created>
  <dcterms:modified xsi:type="dcterms:W3CDTF">2026-04-21T04:35:45Z</dcterms:modified>
</cp:coreProperties>
</file>